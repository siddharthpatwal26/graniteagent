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83" r:id="rId2"/>
    <p:sldId id="257" r:id="rId3"/>
    <p:sldId id="282" r:id="rId4"/>
    <p:sldId id="284" r:id="rId5"/>
    <p:sldId id="285" r:id="rId6"/>
    <p:sldId id="281" r:id="rId7"/>
    <p:sldId id="279" r:id="rId8"/>
    <p:sldId id="262" r:id="rId9"/>
    <p:sldId id="264" r:id="rId10"/>
    <p:sldId id="278" r:id="rId11"/>
    <p:sldId id="286" r:id="rId12"/>
    <p:sldId id="277" r:id="rId13"/>
    <p:sldId id="280" r:id="rId14"/>
    <p:sldId id="276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86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20A8E369-C804-D8D2-383B-03E8A5478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168FC73D-F867-8E13-0025-1B40818921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449581B4-9B47-7782-B749-078618A6E5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051513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/>
              <a:t>IBM University Engagement Project Submission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 dirty="0"/>
              <a:t>“Exploring the Power of Agentic AI with IBM Granite and </a:t>
            </a:r>
            <a:r>
              <a:rPr lang="en-US" b="1" i="1" dirty="0" err="1"/>
              <a:t>LangFlow</a:t>
            </a:r>
            <a:r>
              <a:rPr lang="en-US" b="1" i="1" dirty="0"/>
              <a:t>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1244694573"/>
              </p:ext>
            </p:extLst>
          </p:nvPr>
        </p:nvGraphicFramePr>
        <p:xfrm>
          <a:off x="1299257" y="2600315"/>
          <a:ext cx="9394989" cy="2188114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9422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Student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/>
                        <a:t>Siddharth Patwal</a:t>
                      </a:r>
                      <a:endParaRPr sz="24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/>
                        <a:t>sidpatwal26@gmail.com</a:t>
                      </a:r>
                      <a:endParaRPr sz="14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9389127290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</a:t>
            </a:r>
            <a:r>
              <a:rPr lang="en-US" sz="2400" b="1" dirty="0">
                <a:highlight>
                  <a:srgbClr val="FFFF00"/>
                </a:highlight>
              </a:rPr>
              <a:t>[ Academic / Scientific Research (Agentic AI)]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</a:t>
            </a:r>
            <a:r>
              <a:rPr lang="en-US" sz="2400" b="1" dirty="0">
                <a:highlight>
                  <a:srgbClr val="FFFF00"/>
                </a:highlight>
              </a:rPr>
              <a:t>[ </a:t>
            </a:r>
            <a:r>
              <a:rPr lang="en-US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Research Agent </a:t>
            </a:r>
            <a:r>
              <a:rPr lang="en-US" sz="2400" b="1" dirty="0">
                <a:highlight>
                  <a:srgbClr val="FFFF00"/>
                </a:highlight>
              </a:rPr>
              <a:t>]</a:t>
            </a:r>
            <a:endParaRPr lang="en-IN" sz="2400" b="1" dirty="0">
              <a:highlight>
                <a:srgbClr val="FFFF00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5D7E09-CAE1-4CE9-A1C7-F3A799EFEE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9300" y="3665620"/>
            <a:ext cx="1279926" cy="112280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165753"/>
            <a:ext cx="10607040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b="1" dirty="0"/>
              <a:t>Problem Statement : </a:t>
            </a:r>
            <a:r>
              <a:rPr lang="en-IN" dirty="0"/>
              <a:t>Research Agent</a:t>
            </a:r>
          </a:p>
          <a:p>
            <a:pPr fontAlgn="base"/>
            <a:endParaRPr lang="en-US" b="1" dirty="0"/>
          </a:p>
          <a:p>
            <a:pPr fontAlgn="base"/>
            <a:r>
              <a:rPr lang="en-US" b="1" dirty="0"/>
              <a:t>The Challenge</a:t>
            </a:r>
            <a:r>
              <a:rPr lang="en-US" dirty="0"/>
              <a:t> 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Researchers are overwhelmed by the volume of scientific literature published daily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Hours are spent manually searching ArXiv and reading lengthy abstracts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Organizing references across multiple tools is fragmented and error-prone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Formatting citations correctly (APA, MLA, BibTeX) is tedious and time-consuming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No single unified tool handles the full research workflow intelligently</a:t>
            </a:r>
          </a:p>
          <a:p>
            <a:pPr fontAlgn="base"/>
            <a:r>
              <a:rPr lang="en-US" dirty="0"/>
              <a:t>. </a:t>
            </a:r>
          </a:p>
          <a:p>
            <a:pPr fontAlgn="base"/>
            <a:endParaRPr lang="en-US" dirty="0"/>
          </a:p>
          <a:p>
            <a:pPr fontAlgn="base"/>
            <a:r>
              <a:rPr lang="en-US" b="1" dirty="0"/>
              <a:t>The Objective</a:t>
            </a:r>
            <a:r>
              <a:rPr lang="en-US" dirty="0"/>
              <a:t> 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Build </a:t>
            </a:r>
            <a:r>
              <a:rPr lang="en-US" dirty="0" err="1">
                <a:solidFill>
                  <a:schemeClr val="tx1"/>
                </a:solidFill>
              </a:rPr>
              <a:t>GraniteAgent</a:t>
            </a:r>
            <a:r>
              <a:rPr lang="en-US" dirty="0">
                <a:solidFill>
                  <a:schemeClr val="tx1"/>
                </a:solidFill>
              </a:rPr>
              <a:t> — an autonomous AI-powered research assistant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Search and retrieve relevant academic papers from ArXiv in real-time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Generate instant AI-powered summaries using IBM Granite-3-8B-Instruct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Save and organize references with auto-formatted citations (APA, MLA, BibTeX)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Generate novel hypotheses based on observations and research gaps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Draft complete research paper sections (Introduction, Literature Review, Methodology) via IBM watsonx.ai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Problem Statement 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6A77E81F-021A-57FB-C709-7E7075649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CFCB91-EF22-EB8C-5B0D-4D46021F0245}"/>
              </a:ext>
            </a:extLst>
          </p:cNvPr>
          <p:cNvSpPr txBox="1"/>
          <p:nvPr/>
        </p:nvSpPr>
        <p:spPr>
          <a:xfrm>
            <a:off x="667512" y="1165753"/>
            <a:ext cx="1060704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>
              <a:highlight>
                <a:srgbClr val="FFFF00"/>
              </a:highlight>
            </a:endParaRPr>
          </a:p>
          <a:p>
            <a:pPr fontAlgn="base"/>
            <a:r>
              <a:rPr lang="en-IN" b="1" dirty="0">
                <a:highlight>
                  <a:srgbClr val="FFFF00"/>
                </a:highlight>
              </a:rPr>
              <a:t>Tech Stack </a:t>
            </a:r>
            <a:r>
              <a:rPr lang="en-IN" dirty="0">
                <a:highlight>
                  <a:srgbClr val="FFFF00"/>
                </a:highlight>
              </a:rPr>
              <a:t> </a:t>
            </a:r>
          </a:p>
          <a:p>
            <a:pPr fontAlgn="base"/>
            <a:r>
              <a:rPr lang="en-IN" dirty="0">
                <a:highlight>
                  <a:srgbClr val="FFFF00"/>
                </a:highlight>
              </a:rPr>
              <a:t>I used:</a:t>
            </a:r>
          </a:p>
          <a:p>
            <a:pPr marL="285750" indent="-285750" algn="just" fontAlgn="base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74151"/>
                </a:solidFill>
                <a:highlight>
                  <a:srgbClr val="FFFF00"/>
                </a:highlight>
              </a:rPr>
              <a:t>IBM </a:t>
            </a:r>
            <a:r>
              <a:rPr lang="en-US" dirty="0" err="1">
                <a:solidFill>
                  <a:srgbClr val="374151"/>
                </a:solidFill>
                <a:highlight>
                  <a:srgbClr val="FFFF00"/>
                </a:highlight>
              </a:rPr>
              <a:t>Watsonx</a:t>
            </a:r>
            <a:r>
              <a:rPr lang="en-US" dirty="0">
                <a:solidFill>
                  <a:srgbClr val="374151"/>
                </a:solidFill>
                <a:highlight>
                  <a:srgbClr val="FFFF00"/>
                </a:highlight>
              </a:rPr>
              <a:t> AI,</a:t>
            </a:r>
          </a:p>
          <a:p>
            <a:pPr marL="285750" indent="-285750" algn="just" fontAlgn="base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74151"/>
                </a:solidFill>
                <a:highlight>
                  <a:srgbClr val="FFFF00"/>
                </a:highlight>
              </a:rPr>
              <a:t> </a:t>
            </a:r>
            <a:r>
              <a:rPr lang="en-US" b="1" dirty="0">
                <a:solidFill>
                  <a:srgbClr val="374151"/>
                </a:solidFill>
                <a:highlight>
                  <a:srgbClr val="FFFF00"/>
                </a:highlight>
              </a:rPr>
              <a:t>IBM Granite-3-8B-Instruct (LLM),</a:t>
            </a:r>
          </a:p>
          <a:p>
            <a:pPr marL="285750" indent="-285750" algn="just" fontAlgn="base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374151"/>
                </a:solidFill>
                <a:highlight>
                  <a:srgbClr val="FFFF00"/>
                </a:highlight>
              </a:rPr>
              <a:t> React.js + Vite (Frontend), </a:t>
            </a:r>
          </a:p>
          <a:p>
            <a:pPr marL="285750" indent="-285750" algn="just" fontAlgn="base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374151"/>
                </a:solidFill>
                <a:highlight>
                  <a:srgbClr val="FFFF00"/>
                </a:highlight>
              </a:rPr>
              <a:t>Node.js + Express.js</a:t>
            </a:r>
            <a:r>
              <a:rPr lang="en-US" b="1" dirty="0">
                <a:solidFill>
                  <a:srgbClr val="374151"/>
                </a:solidFill>
                <a:highlight>
                  <a:srgbClr val="FFFF00"/>
                </a:highlight>
              </a:rPr>
              <a:t> (Backend), </a:t>
            </a:r>
          </a:p>
          <a:p>
            <a:pPr marL="285750" indent="-285750" algn="just" fontAlgn="base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374151"/>
                </a:solidFill>
                <a:highlight>
                  <a:srgbClr val="FFFF00"/>
                </a:highlight>
              </a:rPr>
              <a:t>ArXiv Academic API (Live Paper Search),</a:t>
            </a:r>
          </a:p>
          <a:p>
            <a:pPr marL="285750" indent="-285750" algn="just" fontAlgn="base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374151"/>
                </a:solidFill>
                <a:highlight>
                  <a:srgbClr val="FFFF00"/>
                </a:highlight>
              </a:rPr>
              <a:t>IAM Token-based Authentication,</a:t>
            </a:r>
          </a:p>
          <a:p>
            <a:pPr marL="285750" indent="-285750" algn="just" fontAlgn="base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374151"/>
                </a:solidFill>
                <a:highlight>
                  <a:srgbClr val="FFFF00"/>
                </a:highlight>
              </a:rPr>
              <a:t>LocalStorage (Browser Persistence)</a:t>
            </a:r>
            <a:endParaRPr lang="en-US" dirty="0">
              <a:highlight>
                <a:srgbClr val="FFFF00"/>
              </a:highlight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IN" dirty="0">
              <a:highlight>
                <a:srgbClr val="FFFF00"/>
              </a:highlight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IN" dirty="0">
              <a:highlight>
                <a:srgbClr val="FFFF00"/>
              </a:highlight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IN" dirty="0">
              <a:highlight>
                <a:srgbClr val="FFFF00"/>
              </a:highlight>
            </a:endParaRPr>
          </a:p>
          <a:p>
            <a:pPr fontAlgn="base"/>
            <a:endParaRPr lang="en-IN" dirty="0">
              <a:highlight>
                <a:srgbClr val="FFFF00"/>
              </a:highlight>
            </a:endParaRPr>
          </a:p>
          <a:p>
            <a:pPr fontAlgn="base"/>
            <a:endParaRPr lang="en-US" dirty="0">
              <a:highlight>
                <a:srgbClr val="FFFF00"/>
              </a:highlight>
            </a:endParaRPr>
          </a:p>
          <a:p>
            <a:endParaRPr lang="en-IN" dirty="0">
              <a:highlight>
                <a:srgbClr val="FFFF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D926A1-0833-2949-651F-2AAB4D91A8C9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 Used 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4218467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165753"/>
            <a:ext cx="1060704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r>
              <a:rPr lang="en-US" b="1" dirty="0"/>
              <a:t>Proposed Solution: </a:t>
            </a:r>
            <a:r>
              <a:rPr lang="en-IN" dirty="0"/>
              <a:t>Research Agent</a:t>
            </a:r>
          </a:p>
          <a:p>
            <a:r>
              <a:rPr lang="en-US" dirty="0" err="1">
                <a:solidFill>
                  <a:schemeClr val="tx1"/>
                </a:solidFill>
              </a:rPr>
              <a:t>GraniteAgent</a:t>
            </a:r>
            <a:r>
              <a:rPr lang="en-US" dirty="0">
                <a:solidFill>
                  <a:schemeClr val="tx1"/>
                </a:solidFill>
              </a:rPr>
              <a:t> is an end-to-end autonomous research assistant built with React + Vite (frontend), Node.js + Express (backend), and </a:t>
            </a:r>
            <a:r>
              <a:rPr lang="en-US" dirty="0" err="1">
                <a:solidFill>
                  <a:schemeClr val="tx1"/>
                </a:solidFill>
              </a:rPr>
              <a:t>Watsonx</a:t>
            </a:r>
            <a:r>
              <a:rPr lang="en-US" dirty="0">
                <a:solidFill>
                  <a:schemeClr val="tx1"/>
                </a:solidFill>
              </a:rPr>
              <a:t> to streamline the entire academic research workflow in one unified platform.</a:t>
            </a:r>
          </a:p>
          <a:p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r>
              <a:rPr lang="en-US" b="1" dirty="0">
                <a:solidFill>
                  <a:schemeClr val="tx1"/>
                </a:solidFill>
              </a:rPr>
              <a:t>Literature Search Engine:</a:t>
            </a:r>
            <a:r>
              <a:rPr lang="en-US" dirty="0">
                <a:solidFill>
                  <a:schemeClr val="tx1"/>
                </a:solidFill>
              </a:rPr>
              <a:t> Queries ArXiv API in real-time to retrieve relevant papers by keyword, parsing live XML responses.</a:t>
            </a:r>
          </a:p>
          <a:p>
            <a:r>
              <a:rPr lang="en-US" b="1" dirty="0">
                <a:solidFill>
                  <a:schemeClr val="tx1"/>
                </a:solidFill>
              </a:rPr>
              <a:t>Reference Library Manager:</a:t>
            </a:r>
            <a:r>
              <a:rPr lang="en-US" dirty="0">
                <a:solidFill>
                  <a:schemeClr val="tx1"/>
                </a:solidFill>
              </a:rPr>
              <a:t>  Save papers into collections; auto-generate citations in APA, MLA, Chicago, and BibTeX.</a:t>
            </a:r>
            <a:endParaRPr lang="en-US" dirty="0"/>
          </a:p>
          <a:p>
            <a:r>
              <a:rPr lang="en-US" b="1" dirty="0">
                <a:solidFill>
                  <a:schemeClr val="tx1"/>
                </a:solidFill>
              </a:rPr>
              <a:t>Hypothesis Lab:</a:t>
            </a:r>
            <a:r>
              <a:rPr lang="en-US" dirty="0">
                <a:solidFill>
                  <a:srgbClr val="D8F3DC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 Input domain, observations &amp; gaps — IBM Granite returns a structured hypothesis.</a:t>
            </a:r>
          </a:p>
          <a:p>
            <a:r>
              <a:rPr lang="en-US" b="1" dirty="0">
                <a:solidFill>
                  <a:schemeClr val="tx1"/>
                </a:solidFill>
              </a:rPr>
              <a:t>Report Workspace:</a:t>
            </a:r>
            <a:r>
              <a:rPr lang="en-US" dirty="0">
                <a:solidFill>
                  <a:srgbClr val="D8F3DC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Select saved references — IBM Granite drafts Introduction, Literature Review, or Methodology.</a:t>
            </a:r>
          </a:p>
          <a:p>
            <a:r>
              <a:rPr lang="en-US" b="1" dirty="0">
                <a:solidFill>
                  <a:schemeClr val="tx1"/>
                </a:solidFill>
              </a:rPr>
              <a:t>Smart Summarization:</a:t>
            </a:r>
            <a:r>
              <a:rPr lang="en-US" dirty="0">
                <a:solidFill>
                  <a:schemeClr val="tx1"/>
                </a:solidFill>
              </a:rPr>
              <a:t> Instant AI-generated summaries of any retrieved paper powered by IBM Granite-3-8B-Instruct model.</a:t>
            </a:r>
          </a:p>
          <a:p>
            <a:r>
              <a:rPr lang="en-US" b="1" dirty="0">
                <a:solidFill>
                  <a:schemeClr val="tx1"/>
                </a:solidFill>
              </a:rPr>
              <a:t>Credential Manager:</a:t>
            </a:r>
            <a:r>
              <a:rPr lang="en-US" dirty="0">
                <a:solidFill>
                  <a:srgbClr val="D8F3DC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Store IBM Cloud API Key &amp; Project ID in-browser for secure live Granite authentication.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Proposed Solution 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 err="1">
                <a:sym typeface="Times New Roman"/>
              </a:rPr>
              <a:t>Langflow</a:t>
            </a: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dirty="0">
                <a:sym typeface="Times New Roman"/>
              </a:rPr>
              <a:t>component Used -</a:t>
            </a:r>
            <a:endParaRPr sz="2400" b="1" dirty="0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474822" y="1012954"/>
            <a:ext cx="8823960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algn="just"/>
            <a:r>
              <a:rPr lang="en-US" b="1" dirty="0">
                <a:solidFill>
                  <a:schemeClr val="tx1"/>
                </a:solidFill>
              </a:rPr>
              <a:t>1) USER INPUT</a:t>
            </a:r>
            <a:r>
              <a:rPr lang="en-US" dirty="0">
                <a:solidFill>
                  <a:schemeClr val="tx1"/>
                </a:solidFill>
              </a:rPr>
              <a:t>– Researcher types query/topic via React + Vite Chat Interface</a:t>
            </a:r>
          </a:p>
          <a:p>
            <a:pPr algn="just"/>
            <a:endParaRPr lang="en-US" dirty="0">
              <a:solidFill>
                <a:schemeClr val="tx1"/>
              </a:solidFill>
            </a:endParaRPr>
          </a:p>
          <a:p>
            <a:pPr algn="just"/>
            <a:r>
              <a:rPr lang="en-US" b="1" dirty="0"/>
              <a:t>2) </a:t>
            </a:r>
            <a:r>
              <a:rPr lang="en-US" b="1" dirty="0">
                <a:solidFill>
                  <a:schemeClr val="tx1"/>
                </a:solidFill>
              </a:rPr>
              <a:t>EXPRESS.JS BACKEND--</a:t>
            </a:r>
            <a:r>
              <a:rPr lang="en-US" dirty="0">
                <a:solidFill>
                  <a:schemeClr val="tx1"/>
                </a:solidFill>
              </a:rPr>
              <a:t>REST endpoints: /api/search  /api/llm/generate  →  Orchestrates all services</a:t>
            </a:r>
          </a:p>
          <a:p>
            <a:pPr algn="just"/>
            <a:endParaRPr lang="en-US" dirty="0">
              <a:solidFill>
                <a:schemeClr val="tx1"/>
              </a:solidFill>
            </a:endParaRPr>
          </a:p>
          <a:p>
            <a:pPr algn="just"/>
            <a:r>
              <a:rPr lang="en-US" b="1" dirty="0"/>
              <a:t>3) </a:t>
            </a:r>
            <a:r>
              <a:rPr lang="en-US" b="1" dirty="0">
                <a:solidFill>
                  <a:schemeClr val="tx1"/>
                </a:solidFill>
              </a:rPr>
              <a:t>IBM WATSONX AI  +  GRANITE--</a:t>
            </a:r>
            <a:r>
              <a:rPr lang="en-US" dirty="0">
                <a:solidFill>
                  <a:schemeClr val="tx1"/>
                </a:solidFill>
              </a:rPr>
              <a:t>meta-llama/llama-3-3-70b via </a:t>
            </a:r>
            <a:r>
              <a:rPr lang="en-US" dirty="0" err="1">
                <a:solidFill>
                  <a:schemeClr val="tx1"/>
                </a:solidFill>
              </a:rPr>
              <a:t>Watsonx</a:t>
            </a:r>
            <a:r>
              <a:rPr lang="en-US" dirty="0">
                <a:solidFill>
                  <a:schemeClr val="tx1"/>
                </a:solidFill>
              </a:rPr>
              <a:t> Runtime (</a:t>
            </a:r>
            <a:r>
              <a:rPr lang="en-US" dirty="0" err="1">
                <a:solidFill>
                  <a:schemeClr val="tx1"/>
                </a:solidFill>
              </a:rPr>
              <a:t>us-south</a:t>
            </a:r>
            <a:r>
              <a:rPr lang="en-US" dirty="0">
                <a:solidFill>
                  <a:schemeClr val="tx1"/>
                </a:solidFill>
              </a:rPr>
              <a:t>) — Generates intelligent research answers (summarize / hypothesize / draft)</a:t>
            </a:r>
          </a:p>
          <a:p>
            <a:pPr algn="just"/>
            <a:endParaRPr lang="en-US" dirty="0"/>
          </a:p>
          <a:p>
            <a:pPr algn="just"/>
            <a:r>
              <a:rPr lang="en-US" b="1" dirty="0"/>
              <a:t>4) </a:t>
            </a:r>
            <a:r>
              <a:rPr lang="en-US" b="1" dirty="0">
                <a:solidFill>
                  <a:schemeClr val="tx1"/>
                </a:solidFill>
              </a:rPr>
              <a:t>AGENTIC PIPELINE--</a:t>
            </a:r>
            <a:r>
              <a:rPr lang="en-US" dirty="0" err="1">
                <a:solidFill>
                  <a:schemeClr val="tx1"/>
                </a:solidFill>
              </a:rPr>
              <a:t>Prompt Template Node</a:t>
            </a:r>
            <a:r>
              <a:rPr lang="en-US" dirty="0">
                <a:solidFill>
                  <a:schemeClr val="tx1"/>
                </a:solidFill>
              </a:rPr>
              <a:t>  →  </a:t>
            </a:r>
            <a:r>
              <a:rPr lang="en-US" dirty="0" err="1">
                <a:solidFill>
                  <a:schemeClr val="tx1"/>
                </a:solidFill>
              </a:rPr>
              <a:t>IBM Granite LLM Node</a:t>
            </a:r>
            <a:r>
              <a:rPr lang="en-US" dirty="0">
                <a:solidFill>
                  <a:schemeClr val="tx1"/>
                </a:solidFill>
              </a:rPr>
              <a:t>  →  </a:t>
            </a:r>
            <a:r>
              <a:rPr lang="en-US" dirty="0" err="1">
                <a:solidFill>
                  <a:schemeClr val="tx1"/>
                </a:solidFill>
              </a:rPr>
              <a:t>Output Parser Node</a:t>
            </a:r>
            <a:r>
              <a:rPr lang="en-US" dirty="0">
                <a:solidFill>
                  <a:schemeClr val="tx1"/>
                </a:solidFill>
              </a:rPr>
              <a:t> (Summarize / Hypothesize / Draft Paper Sections)</a:t>
            </a:r>
          </a:p>
          <a:p>
            <a:pPr algn="just"/>
            <a:endParaRPr lang="en-US" dirty="0"/>
          </a:p>
          <a:p>
            <a:pPr algn="just"/>
            <a:r>
              <a:rPr lang="en-US" b="1" dirty="0"/>
              <a:t>5) 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</a:rPr>
              <a:t>DATA SOURCES</a:t>
            </a:r>
            <a:r>
              <a:rPr lang="en-US" b="1" dirty="0">
                <a:highlight>
                  <a:srgbClr val="FFFF00"/>
                </a:highlight>
              </a:rPr>
              <a:t> -- </a:t>
            </a:r>
            <a:r>
              <a:rPr lang="en-US" dirty="0" err="1">
                <a:solidFill>
                  <a:srgbClr val="1A3A2A"/>
                </a:solidFill>
                <a:highlight>
                  <a:srgbClr val="FFFF00"/>
                </a:highlight>
              </a:rPr>
              <a:t>ArXiv Academic API</a:t>
            </a:r>
            <a:r>
              <a:rPr lang="en-US" dirty="0">
                <a:solidFill>
                  <a:srgbClr val="1A3A2A"/>
                </a:solidFill>
                <a:highlight>
                  <a:srgbClr val="FFFF00"/>
                </a:highlight>
              </a:rPr>
              <a:t> (live XML papers)  |  IBM IAM Token Auth (IBM Cloud)  |  LocalStorage (references)</a:t>
            </a:r>
            <a:endParaRPr lang="en-US" dirty="0">
              <a:highlight>
                <a:srgbClr val="FFFF00"/>
              </a:highlight>
            </a:endParaRPr>
          </a:p>
          <a:p>
            <a:pPr algn="just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BF3590-52D3-DC9D-2C84-E66D9597D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439" y="1066220"/>
            <a:ext cx="11469656" cy="5544892"/>
          </a:xfrm>
          <a:prstGeom prst="rect">
            <a:avLst/>
          </a:prstGeom>
        </p:spPr>
      </p:pic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 err="1">
                <a:sym typeface="Times New Roman"/>
              </a:rPr>
              <a:t>GraniteAgent</a:t>
            </a: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dirty="0">
                <a:sym typeface="Times New Roman"/>
              </a:rPr>
              <a:t>Agentic Workflow -</a:t>
            </a:r>
            <a:endParaRPr sz="2400" b="1" dirty="0"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152" y="1071448"/>
            <a:ext cx="10429095" cy="561281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GraniteAgent — System Architecture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Role of Agentic AI in</a:t>
            </a:r>
            <a:r>
              <a:rPr lang="en-US" sz="2800" b="1" dirty="0"/>
              <a:t> </a:t>
            </a:r>
            <a:r>
              <a:rPr lang="en-IN" sz="3200" b="1" dirty="0"/>
              <a:t>Research Agent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21792" y="1205593"/>
            <a:ext cx="7406640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Role of Agentic AI in </a:t>
            </a:r>
            <a:r>
              <a:rPr lang="en-IN" b="1" dirty="0"/>
              <a:t>Research Agent</a:t>
            </a:r>
            <a:endParaRPr lang="en-US" b="1" dirty="0"/>
          </a:p>
          <a:p>
            <a:r>
              <a:rPr lang="en-US" b="1" dirty="0"/>
              <a:t>Agentic AI</a:t>
            </a:r>
            <a:r>
              <a:rPr lang="en-US" dirty="0"/>
              <a:t> enables GraniteAgent to function as a fully autonomous research assistant rather than a simple chatbot. Using </a:t>
            </a:r>
            <a:r>
              <a:rPr lang="en-US" b="1" dirty="0"/>
              <a:t>IBM watsonx.ai</a:t>
            </a:r>
            <a:r>
              <a:rPr lang="en-US" dirty="0"/>
              <a:t> and </a:t>
            </a:r>
            <a:r>
              <a:rPr lang="en-US" b="1" dirty="0"/>
              <a:t>IBM Granite models</a:t>
            </a:r>
            <a:r>
              <a:rPr lang="en-US" dirty="0"/>
              <a:t>, it orchestrates the entire academic research pipeline to deliver intelligent, structured research support.</a:t>
            </a:r>
          </a:p>
          <a:p>
            <a:r>
              <a:rPr lang="en-US" dirty="0"/>
              <a:t>Each agent performs a specific role—such as retrieving nutritional data, generating diet plans, providing health advice, and analyzing food logs—while working collaboratively. This </a:t>
            </a:r>
            <a:r>
              <a:rPr lang="en-US" b="1" dirty="0"/>
              <a:t>multi-agent approach</a:t>
            </a:r>
            <a:r>
              <a:rPr lang="en-US" dirty="0"/>
              <a:t> ensures efficient task execution and accurate results.</a:t>
            </a:r>
          </a:p>
          <a:p>
            <a:r>
              <a:rPr lang="en-US" dirty="0"/>
              <a:t>GraniteAgent also brings </a:t>
            </a:r>
            <a:r>
              <a:rPr lang="en-US" b="1" dirty="0"/>
              <a:t>context awareness</a:t>
            </a:r>
            <a:r>
              <a:rPr lang="en-US" dirty="0"/>
              <a:t>, understanding the researcher’s query context, domain, and observations to generate targeted outputs. It supports </a:t>
            </a:r>
            <a:r>
              <a:rPr lang="en-US" b="1" dirty="0"/>
              <a:t>real-time adaptation</a:t>
            </a:r>
            <a:r>
              <a:rPr lang="en-US" dirty="0"/>
              <a:t>, dynamically responding to each research query with structured and grounded AI outputs.</a:t>
            </a:r>
          </a:p>
          <a:p>
            <a:r>
              <a:rPr lang="en-US" dirty="0"/>
              <a:t>Additionally, the pipeline routes between ArXiv search, IBM Granite LLM calls, and the output parser, enabling accurate and trustworthy academic outputs.</a:t>
            </a:r>
          </a:p>
          <a:p>
            <a:r>
              <a:rPr lang="en-US" dirty="0"/>
              <a:t>Overall, Agentic AI makes GraniteAgent proactive, context-driven, and research-ready — acting like a </a:t>
            </a:r>
            <a:r>
              <a:rPr lang="en-US" b="1" dirty="0"/>
              <a:t>smart digital research assistant</a:t>
            </a:r>
            <a:r>
              <a:rPr lang="en-US" dirty="0"/>
              <a:t> that helps researchers accelerate discovery and produce high-quality academic work.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 Used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 err="1"/>
              <a:t>React.js + Vite</a:t>
            </a:r>
            <a:r>
              <a:rPr lang="en-US" sz="1800" b="1" dirty="0"/>
              <a:t> (Frontend) </a:t>
            </a:r>
            <a:r>
              <a:rPr lang="en-US" sz="1800" dirty="0"/>
              <a:t>- Modern React frontend with Vite build tool for the chat and research interface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</a:t>
            </a:r>
            <a:r>
              <a:rPr lang="en-US" sz="1800" b="1" dirty="0" err="1"/>
              <a:t>(Backend Server)</a:t>
            </a:r>
            <a:r>
              <a:rPr lang="en-US" sz="1800" b="1" dirty="0"/>
              <a:t> </a:t>
            </a:r>
            <a:r>
              <a:rPr lang="en-US" sz="1800" dirty="0"/>
              <a:t>- </a:t>
            </a:r>
            <a:r>
              <a:rPr lang="en-US" sz="1800" dirty="0" err="1"/>
              <a:t>REST API endpoints: /api/search, /api/llm/generate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Granite-3-8B-Instruct </a:t>
            </a:r>
            <a:r>
              <a:rPr lang="en-US" sz="1800" dirty="0"/>
              <a:t>– Core AI model via watsonx.ai REST API. Supports </a:t>
            </a:r>
            <a:r>
              <a:rPr lang="en-US" sz="1800" b="1" dirty="0"/>
              <a:t>IAM token-based authentication</a:t>
            </a:r>
            <a:r>
              <a:rPr lang="en-US" sz="1800" dirty="0"/>
              <a:t> for secure IBM Cloud access.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ArXiv API </a:t>
            </a:r>
            <a:r>
              <a:rPr lang="en-US" sz="1800" dirty="0"/>
              <a:t>– </a:t>
            </a:r>
            <a:r>
              <a:rPr lang="en-US" sz="1800" b="1" dirty="0"/>
              <a:t>Live academic paper retrieval</a:t>
            </a:r>
            <a:r>
              <a:rPr lang="en-US" sz="1800" dirty="0"/>
              <a:t>. Real-time XML parsing of scholarly papers by keyword from ArXiv.org.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Watsonx.ai - </a:t>
            </a:r>
            <a:r>
              <a:rPr lang="en-US" sz="1800" dirty="0"/>
              <a:t>Model deployment platform. Provides REST API access to Granite LLM with temperature and token controls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LocalStorage (Browser) </a:t>
            </a:r>
            <a:r>
              <a:rPr lang="en-IN" sz="1800" dirty="0"/>
              <a:t>– Client-side persistence for references, credentials &amp; notes. No database needed.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Novelty and Uniqueness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1207008"/>
            <a:ext cx="11301984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/>
              <a:t>GraniteAgent stands out by combining </a:t>
            </a:r>
            <a:r>
              <a:rPr lang="en-IN" sz="1800" b="1" dirty="0"/>
              <a:t>Agentic AI, live academic APIs, and IBM Granite</a:t>
            </a:r>
            <a:r>
              <a:rPr lang="en-IN" sz="1800" dirty="0"/>
              <a:t> into a single unified research intelligence platform.</a:t>
            </a:r>
          </a:p>
          <a:p>
            <a:endParaRPr lang="en-IN" sz="1800" dirty="0"/>
          </a:p>
          <a:p>
            <a:r>
              <a:rPr lang="en-IN" sz="1800" b="1" dirty="0"/>
              <a:t>End-to-End Research Workflow</a:t>
            </a:r>
            <a:r>
              <a:rPr lang="en-IN" sz="1800" dirty="0"/>
              <a:t> – Covers the full research cycle: search, summarize, organize references, generate hypotheses, and draft paper sections — all in one tool. </a:t>
            </a:r>
          </a:p>
          <a:p>
            <a:r>
              <a:rPr lang="en-IN" sz="1800" b="1" dirty="0"/>
              <a:t>Live ArXiv Integration</a:t>
            </a:r>
            <a:r>
              <a:rPr lang="en-IN" sz="1800" dirty="0"/>
              <a:t> – Fetches real academic papers live from ArXiv API, grounding AI outputs in actual peer-reviewed literature. </a:t>
            </a:r>
          </a:p>
          <a:p>
            <a:r>
              <a:rPr lang="en-IN" sz="1800" b="1" dirty="0"/>
              <a:t>Multi-Format Citation Engine</a:t>
            </a:r>
            <a:r>
              <a:rPr lang="en-IN" sz="1800" dirty="0"/>
              <a:t> – Auto-generates citations in APA, MLA, Chicago, and BibTeX — saving hours of manual formatting. </a:t>
            </a:r>
          </a:p>
          <a:p>
            <a:r>
              <a:rPr lang="en-IN" sz="1800" b="1" dirty="0"/>
              <a:t>AI Hypothesis Generator</a:t>
            </a:r>
            <a:r>
              <a:rPr lang="en-IN" sz="1800" dirty="0"/>
              <a:t> – IBM Granite formulates structured, scientifically grounded hypotheses from user-provided domain, observations, and knowledge gaps.  </a:t>
            </a:r>
          </a:p>
          <a:p>
            <a:r>
              <a:rPr lang="en-IN" sz="1800" b="1" dirty="0"/>
              <a:t>Intelligent Paper Drafting</a:t>
            </a:r>
            <a:r>
              <a:rPr lang="en-IN" sz="1800" dirty="0"/>
              <a:t> – IBM Granite drafts complete research sections (Introduction, Literature Review, Methodology) from user-selected references. </a:t>
            </a:r>
          </a:p>
          <a:p>
            <a:r>
              <a:rPr lang="en-IN" sz="1800" b="1" dirty="0"/>
              <a:t>No Database Required</a:t>
            </a:r>
            <a:r>
              <a:rPr lang="en-IN" sz="1800" dirty="0"/>
              <a:t> – Uses browser LocalStorage for reference persistence — zero backend database setup needed. </a:t>
            </a:r>
          </a:p>
          <a:p>
            <a:r>
              <a:rPr lang="en-IN" sz="1800" b="1" dirty="0"/>
              <a:t>Scalable &amp; Enterprise-Ready</a:t>
            </a:r>
            <a:r>
              <a:rPr lang="en-IN" sz="1800" dirty="0"/>
              <a:t> – Built on </a:t>
            </a:r>
            <a:r>
              <a:rPr lang="en-IN" sz="1800" b="1" dirty="0"/>
              <a:t>IBM watsonx.ai</a:t>
            </a:r>
            <a:r>
              <a:rPr lang="en-IN" sz="1800" dirty="0"/>
              <a:t> with </a:t>
            </a:r>
            <a:r>
              <a:rPr lang="en-IN" sz="1800" b="1" dirty="0"/>
              <a:t>IBM Granite models</a:t>
            </a:r>
            <a:r>
              <a:rPr lang="en-IN" sz="1800" dirty="0"/>
              <a:t>, ensuring reliability, governance, and production-grade AI quality. </a:t>
            </a:r>
          </a:p>
          <a:p>
            <a:endParaRPr lang="en-IN" sz="1800" dirty="0"/>
          </a:p>
          <a:p>
            <a:r>
              <a:rPr lang="en-IN" sz="1800" dirty="0"/>
              <a:t>This makes GraniteAgent a </a:t>
            </a:r>
            <a:r>
              <a:rPr lang="en-IN" sz="1800" b="1" dirty="0"/>
              <a:t>smart, autonomous, and research-ready AI assistant</a:t>
            </a:r>
            <a:r>
              <a:rPr lang="en-IN" sz="1800" dirty="0"/>
              <a:t>, not just a simple academic search engine.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Git Hub Link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15507A2F-9304-7475-5C74-2BAA93879CFE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AF8297-28D0-404D-BC5D-C4A0FFD7E7B8}"/>
              </a:ext>
            </a:extLst>
          </p:cNvPr>
          <p:cNvSpPr txBox="1"/>
          <p:nvPr/>
        </p:nvSpPr>
        <p:spPr>
          <a:xfrm>
            <a:off x="1085850" y="1273398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https://github.com/Siddharthpatwal26/Research-Agent-</a:t>
            </a:r>
          </a:p>
        </p:txBody>
      </p:sp>
    </p:spTree>
    <p:extLst>
      <p:ext uri="{BB962C8B-B14F-4D97-AF65-F5344CB8AC3E}">
        <p14:creationId xmlns:p14="http://schemas.microsoft.com/office/powerpoint/2010/main" val="2115484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Future Scope 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1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Multi-Source Research Integration – 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Expand beyond ArXiv to integrate PubMed, IEEE Xplore, Google Scholar, and Semantic Scholar APIs, enabling cross-domain academic discovery across medicine, engineering, and social sciences.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</a:t>
            </a:r>
            <a:r>
              <a:rPr lang="en-US" sz="1850" b="1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Collaborative Research Workspace </a:t>
            </a: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multi-user collaboration features allowing research teams to share libraries, annotate papers, co-author hypotheses, and export structured reports in PDF or DOCX format directly from GraniteAgent.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1201</TotalTime>
  <Words>1159</Words>
  <Application>Microsoft Office PowerPoint</Application>
  <PresentationFormat>Widescreen</PresentationFormat>
  <Paragraphs>126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Siddharth Patwal</cp:lastModifiedBy>
  <cp:revision>32</cp:revision>
  <dcterms:created xsi:type="dcterms:W3CDTF">2025-07-08T05:06:56Z</dcterms:created>
  <dcterms:modified xsi:type="dcterms:W3CDTF">2026-06-05T06:07:06Z</dcterms:modified>
</cp:coreProperties>
</file>